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8" autoAdjust="0"/>
    <p:restoredTop sz="94631"/>
  </p:normalViewPr>
  <p:slideViewPr>
    <p:cSldViewPr>
      <p:cViewPr>
        <p:scale>
          <a:sx n="104" d="100"/>
          <a:sy n="104" d="100"/>
        </p:scale>
        <p:origin x="2008" y="3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26/09/26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590551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400" y="1676400"/>
            <a:ext cx="7467599" cy="81176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/>
            <a:r>
              <a:rPr sz="2600" b="1" dirty="0">
                <a:solidFill>
                  <a:srgbClr val="1F4E79"/>
                </a:solidFill>
                <a:latin typeface="Aptos Display"/>
              </a:rPr>
              <a:t>Database Management Systems Cornerstone Project</a:t>
            </a:r>
            <a:br>
              <a:rPr dirty="0"/>
            </a:br>
            <a:r>
              <a:rPr sz="2600" b="1" dirty="0">
                <a:solidFill>
                  <a:srgbClr val="1F4E79"/>
                </a:solidFill>
                <a:latin typeface="Aptos Display"/>
              </a:rPr>
              <a:t>Final Review (Review I &amp; II)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3270" y="2993785"/>
            <a:ext cx="8751412" cy="397673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  <a:spcAft>
                <a:spcPts val="900"/>
              </a:spcAft>
            </a:pPr>
            <a:r>
              <a:rPr sz="2400" b="1" dirty="0">
                <a:solidFill>
                  <a:srgbClr val="141414"/>
                </a:solidFill>
                <a:latin typeface="Aptos"/>
              </a:rPr>
              <a:t>UNIVERSITY ACADEMIC MANAGEMENT SYSTEM</a:t>
            </a:r>
          </a:p>
          <a:p>
            <a:pPr algn="ctr">
              <a:spcAft>
                <a:spcPts val="900"/>
              </a:spcAft>
            </a:pPr>
            <a:r>
              <a:rPr sz="2200" b="1" dirty="0">
                <a:solidFill>
                  <a:srgbClr val="FF0000"/>
                </a:solidFill>
                <a:latin typeface="Aptos"/>
              </a:rPr>
              <a:t>Presented by</a:t>
            </a:r>
          </a:p>
          <a:p>
            <a:pPr algn="ctr">
              <a:spcAft>
                <a:spcPts val="900"/>
              </a:spcAft>
            </a:pPr>
            <a:r>
              <a:rPr sz="1900" b="1" dirty="0">
                <a:solidFill>
                  <a:srgbClr val="1F4E79"/>
                </a:solidFill>
                <a:latin typeface="Aptos"/>
              </a:rPr>
              <a:t>Manish Mandal – 25B11AI573</a:t>
            </a:r>
          </a:p>
          <a:p>
            <a:pPr algn="ctr">
              <a:spcAft>
                <a:spcPts val="900"/>
              </a:spcAft>
            </a:pPr>
            <a:r>
              <a:rPr sz="1900" b="1" dirty="0">
                <a:solidFill>
                  <a:srgbClr val="1F4E79"/>
                </a:solidFill>
                <a:latin typeface="Aptos"/>
              </a:rPr>
              <a:t>D L Vaishnavi – 25B11AI261</a:t>
            </a:r>
          </a:p>
          <a:p>
            <a:pPr algn="ctr">
              <a:spcAft>
                <a:spcPts val="900"/>
              </a:spcAft>
            </a:pPr>
            <a:r>
              <a:rPr sz="1900" b="1" dirty="0">
                <a:solidFill>
                  <a:srgbClr val="1F4E79"/>
                </a:solidFill>
                <a:latin typeface="Aptos"/>
              </a:rPr>
              <a:t>T Meghana – 25B11AIA75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7F522203-4D67-58DD-31F5-37C202FA3D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6E16D6F3-DBF0-E617-AFF6-C2A4892E9FA8}"/>
              </a:ext>
            </a:extLst>
          </p:cNvPr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93C95EF2-BBA3-8A6C-BB0E-206F5C343DE0}"/>
              </a:ext>
            </a:extLst>
          </p:cNvPr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80A3D2C1-B569-848A-9A76-0BA921EE1634}"/>
              </a:ext>
            </a:extLst>
          </p:cNvPr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14" name="object 4">
              <a:extLst>
                <a:ext uri="{FF2B5EF4-FFF2-40B4-BE49-F238E27FC236}">
                  <a16:creationId xmlns:a16="http://schemas.microsoft.com/office/drawing/2014/main" id="{BCE71AB4-6604-F67C-21CE-66420651692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5" name="object 5">
              <a:extLst>
                <a:ext uri="{FF2B5EF4-FFF2-40B4-BE49-F238E27FC236}">
                  <a16:creationId xmlns:a16="http://schemas.microsoft.com/office/drawing/2014/main" id="{1E603E1E-A992-62A2-2C33-56265DB902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6" name="object 6">
              <a:extLst>
                <a:ext uri="{FF2B5EF4-FFF2-40B4-BE49-F238E27FC236}">
                  <a16:creationId xmlns:a16="http://schemas.microsoft.com/office/drawing/2014/main" id="{3EBDD5F4-9026-A5A9-CC74-3096D081C1F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5AF490BF-FD9B-CE42-E7F4-1B85E64E9660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9">
            <a:extLst>
              <a:ext uri="{FF2B5EF4-FFF2-40B4-BE49-F238E27FC236}">
                <a16:creationId xmlns:a16="http://schemas.microsoft.com/office/drawing/2014/main" id="{1677CC55-31DB-4DDD-5D4D-D76F7223C4CB}"/>
              </a:ext>
            </a:extLst>
          </p:cNvPr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914400" y="1417320"/>
            <a:ext cx="7315200" cy="417755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Aptos"/>
              </a:rPr>
              <a:t>• </a:t>
            </a:r>
            <a:r>
              <a:rPr sz="2400" b="1" dirty="0">
                <a:solidFill>
                  <a:srgbClr val="141414"/>
                </a:solidFill>
                <a:latin typeface="Aptos"/>
              </a:rPr>
              <a:t>Project:</a:t>
            </a:r>
            <a:r>
              <a:rPr sz="2400" dirty="0">
                <a:solidFill>
                  <a:srgbClr val="141414"/>
                </a:solidFill>
                <a:latin typeface="Aptos"/>
              </a:rPr>
              <a:t> University Academic Management System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Aptos"/>
              </a:rPr>
              <a:t>• </a:t>
            </a:r>
            <a:r>
              <a:rPr sz="2400" b="1" dirty="0">
                <a:solidFill>
                  <a:srgbClr val="141414"/>
                </a:solidFill>
                <a:latin typeface="Aptos"/>
              </a:rPr>
              <a:t>Problem: </a:t>
            </a:r>
            <a:r>
              <a:rPr sz="2400" dirty="0">
                <a:solidFill>
                  <a:srgbClr val="141414"/>
                </a:solidFill>
                <a:latin typeface="Aptos"/>
              </a:rPr>
              <a:t>manual and fragmented academic records cause duplication, inconsistency, slow searching, and reporting difficulty.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Aptos"/>
              </a:rPr>
              <a:t>• </a:t>
            </a:r>
            <a:r>
              <a:rPr sz="2400" b="1" dirty="0">
                <a:solidFill>
                  <a:srgbClr val="141414"/>
                </a:solidFill>
                <a:latin typeface="Aptos"/>
              </a:rPr>
              <a:t>Objective: </a:t>
            </a:r>
            <a:r>
              <a:rPr sz="2400" dirty="0">
                <a:solidFill>
                  <a:srgbClr val="141414"/>
                </a:solidFill>
                <a:latin typeface="Aptos"/>
              </a:rPr>
              <a:t>build a centralized relational database for academic information.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Aptos"/>
              </a:rPr>
              <a:t>• </a:t>
            </a:r>
            <a:r>
              <a:rPr sz="2400" b="1" dirty="0">
                <a:solidFill>
                  <a:srgbClr val="141414"/>
                </a:solidFill>
                <a:latin typeface="Aptos"/>
              </a:rPr>
              <a:t>Core scope: </a:t>
            </a:r>
            <a:r>
              <a:rPr sz="2400" dirty="0">
                <a:solidFill>
                  <a:srgbClr val="141414"/>
                </a:solidFill>
                <a:latin typeface="Aptos"/>
              </a:rPr>
              <a:t>Department, Student, Faculty, Course, Enrollment, and Result.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Aptos"/>
              </a:rPr>
              <a:t>• Future scope includes attendance, fees, timetable, library, scheduling, and web/mobile interfaces.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914400" y="1417320"/>
            <a:ext cx="7315200" cy="553177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Aptos"/>
              </a:rPr>
              <a:t>• </a:t>
            </a:r>
            <a:r>
              <a:rPr b="1" dirty="0">
                <a:solidFill>
                  <a:srgbClr val="141414"/>
                </a:solidFill>
                <a:latin typeface="Aptos"/>
              </a:rPr>
              <a:t>Department</a:t>
            </a:r>
            <a:r>
              <a:rPr dirty="0">
                <a:solidFill>
                  <a:srgbClr val="141414"/>
                </a:solidFill>
                <a:latin typeface="Aptos"/>
              </a:rPr>
              <a:t> – </a:t>
            </a:r>
            <a:r>
              <a:rPr dirty="0" err="1">
                <a:solidFill>
                  <a:srgbClr val="141414"/>
                </a:solidFill>
                <a:latin typeface="Aptos"/>
              </a:rPr>
              <a:t>Department_ID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Department_Name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Department_Code</a:t>
            </a:r>
            <a:r>
              <a:rPr dirty="0">
                <a:solidFill>
                  <a:srgbClr val="141414"/>
                </a:solidFill>
                <a:latin typeface="Aptos"/>
              </a:rPr>
              <a:t>, HOD_Name</a:t>
            </a:r>
            <a:endParaRPr lang="en-US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Aptos"/>
              </a:rPr>
              <a:t>• </a:t>
            </a:r>
            <a:r>
              <a:rPr b="1" dirty="0">
                <a:solidFill>
                  <a:srgbClr val="141414"/>
                </a:solidFill>
                <a:latin typeface="Aptos"/>
              </a:rPr>
              <a:t>Student</a:t>
            </a:r>
            <a:r>
              <a:rPr dirty="0">
                <a:solidFill>
                  <a:srgbClr val="141414"/>
                </a:solidFill>
                <a:latin typeface="Aptos"/>
              </a:rPr>
              <a:t> – </a:t>
            </a:r>
            <a:r>
              <a:rPr dirty="0" err="1">
                <a:solidFill>
                  <a:srgbClr val="141414"/>
                </a:solidFill>
                <a:latin typeface="Aptos"/>
              </a:rPr>
              <a:t>Student_ID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Student_Name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Roll_Number</a:t>
            </a:r>
            <a:r>
              <a:rPr dirty="0">
                <a:solidFill>
                  <a:srgbClr val="141414"/>
                </a:solidFill>
                <a:latin typeface="Aptos"/>
              </a:rPr>
              <a:t>, Email, </a:t>
            </a:r>
            <a:r>
              <a:rPr dirty="0" err="1">
                <a:solidFill>
                  <a:srgbClr val="141414"/>
                </a:solidFill>
                <a:latin typeface="Aptos"/>
              </a:rPr>
              <a:t>Department_ID</a:t>
            </a:r>
            <a:endParaRPr lang="en-US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Aptos"/>
              </a:rPr>
              <a:t>• </a:t>
            </a:r>
            <a:r>
              <a:rPr b="1" dirty="0">
                <a:solidFill>
                  <a:srgbClr val="141414"/>
                </a:solidFill>
                <a:latin typeface="Aptos"/>
              </a:rPr>
              <a:t>Faculty </a:t>
            </a:r>
            <a:r>
              <a:rPr dirty="0">
                <a:solidFill>
                  <a:srgbClr val="141414"/>
                </a:solidFill>
                <a:latin typeface="Aptos"/>
              </a:rPr>
              <a:t>– </a:t>
            </a:r>
            <a:r>
              <a:rPr dirty="0" err="1">
                <a:solidFill>
                  <a:srgbClr val="141414"/>
                </a:solidFill>
                <a:latin typeface="Aptos"/>
              </a:rPr>
              <a:t>Faculty_ID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Faculty_Name</a:t>
            </a:r>
            <a:r>
              <a:rPr dirty="0">
                <a:solidFill>
                  <a:srgbClr val="141414"/>
                </a:solidFill>
                <a:latin typeface="Aptos"/>
              </a:rPr>
              <a:t>, Qualification, Designation, </a:t>
            </a:r>
            <a:r>
              <a:rPr dirty="0" err="1">
                <a:solidFill>
                  <a:srgbClr val="141414"/>
                </a:solidFill>
                <a:latin typeface="Aptos"/>
              </a:rPr>
              <a:t>Department_ID</a:t>
            </a:r>
            <a:endParaRPr lang="en-US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Aptos"/>
              </a:rPr>
              <a:t>• </a:t>
            </a:r>
            <a:r>
              <a:rPr b="1" dirty="0">
                <a:solidFill>
                  <a:srgbClr val="141414"/>
                </a:solidFill>
                <a:latin typeface="Aptos"/>
              </a:rPr>
              <a:t>Course</a:t>
            </a:r>
            <a:r>
              <a:rPr dirty="0">
                <a:solidFill>
                  <a:srgbClr val="141414"/>
                </a:solidFill>
                <a:latin typeface="Aptos"/>
              </a:rPr>
              <a:t> – </a:t>
            </a:r>
            <a:r>
              <a:rPr dirty="0" err="1">
                <a:solidFill>
                  <a:srgbClr val="141414"/>
                </a:solidFill>
                <a:latin typeface="Aptos"/>
              </a:rPr>
              <a:t>Course_ID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Course_Code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Course_Name</a:t>
            </a:r>
            <a:r>
              <a:rPr dirty="0">
                <a:solidFill>
                  <a:srgbClr val="141414"/>
                </a:solidFill>
                <a:latin typeface="Aptos"/>
              </a:rPr>
              <a:t>, Credits, Semester</a:t>
            </a:r>
            <a:endParaRPr lang="en-US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Aptos"/>
              </a:rPr>
              <a:t>• </a:t>
            </a:r>
            <a:r>
              <a:rPr b="1" dirty="0">
                <a:solidFill>
                  <a:srgbClr val="141414"/>
                </a:solidFill>
                <a:latin typeface="Aptos"/>
              </a:rPr>
              <a:t>Enrollment</a:t>
            </a:r>
            <a:r>
              <a:rPr dirty="0">
                <a:solidFill>
                  <a:srgbClr val="141414"/>
                </a:solidFill>
                <a:latin typeface="Aptos"/>
              </a:rPr>
              <a:t> – </a:t>
            </a:r>
            <a:r>
              <a:rPr dirty="0" err="1">
                <a:solidFill>
                  <a:srgbClr val="141414"/>
                </a:solidFill>
                <a:latin typeface="Aptos"/>
              </a:rPr>
              <a:t>Enrollment_ID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Student_ID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Course_ID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Academic_Year</a:t>
            </a:r>
            <a:r>
              <a:rPr dirty="0">
                <a:solidFill>
                  <a:srgbClr val="141414"/>
                </a:solidFill>
                <a:latin typeface="Aptos"/>
              </a:rPr>
              <a:t>, Semester</a:t>
            </a:r>
            <a:endParaRPr lang="en-US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Aptos"/>
              </a:rPr>
              <a:t>• </a:t>
            </a:r>
            <a:r>
              <a:rPr b="1" dirty="0">
                <a:solidFill>
                  <a:srgbClr val="141414"/>
                </a:solidFill>
                <a:latin typeface="Aptos"/>
              </a:rPr>
              <a:t>Result</a:t>
            </a:r>
            <a:r>
              <a:rPr dirty="0">
                <a:solidFill>
                  <a:srgbClr val="141414"/>
                </a:solidFill>
                <a:latin typeface="Aptos"/>
              </a:rPr>
              <a:t> – </a:t>
            </a:r>
            <a:r>
              <a:rPr dirty="0" err="1">
                <a:solidFill>
                  <a:srgbClr val="141414"/>
                </a:solidFill>
                <a:latin typeface="Aptos"/>
              </a:rPr>
              <a:t>Result_ID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Enrollment_ID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Internal_Marks</a:t>
            </a:r>
            <a:r>
              <a:rPr dirty="0">
                <a:solidFill>
                  <a:srgbClr val="141414"/>
                </a:solidFill>
                <a:latin typeface="Aptos"/>
              </a:rPr>
              <a:t>, </a:t>
            </a:r>
            <a:r>
              <a:rPr dirty="0" err="1">
                <a:solidFill>
                  <a:srgbClr val="141414"/>
                </a:solidFill>
                <a:latin typeface="Aptos"/>
              </a:rPr>
              <a:t>External_Marks</a:t>
            </a:r>
            <a:r>
              <a:rPr dirty="0">
                <a:solidFill>
                  <a:srgbClr val="141414"/>
                </a:solidFill>
                <a:latin typeface="Aptos"/>
              </a:rPr>
              <a:t>, Grade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F592E-1BC5-A7E5-94A9-5EBA752B1D71}"/>
              </a:ext>
            </a:extLst>
          </p:cNvPr>
          <p:cNvSpPr txBox="1"/>
          <p:nvPr/>
        </p:nvSpPr>
        <p:spPr>
          <a:xfrm>
            <a:off x="822960" y="123444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41414"/>
                </a:solidFill>
                <a:latin typeface="Aptos"/>
              </a:rPr>
              <a:t>Entity–relationship structure of the six core academic entities</a:t>
            </a:r>
          </a:p>
        </p:txBody>
      </p:sp>
      <p:pic>
        <p:nvPicPr>
          <p:cNvPr id="18" name="Picture 17" descr="er_cro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691640"/>
            <a:ext cx="7635240" cy="52859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4E79"/>
                </a:solidFill>
                <a:latin typeface="Aptos"/>
              </a:rPr>
              <a:t>Department, Student, Faculty, Course, Enrollment and Result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95DB9-015F-1A5A-C9C5-048003F057DB}"/>
              </a:ext>
            </a:extLst>
          </p:cNvPr>
          <p:cNvSpPr txBox="1"/>
          <p:nvPr/>
        </p:nvSpPr>
        <p:spPr>
          <a:xfrm>
            <a:off x="290750" y="1417320"/>
            <a:ext cx="9539050" cy="5716437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DEPARTMENT(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Department_ID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Department_Name</a:t>
            </a:r>
            <a:r>
              <a:rPr sz="2000" dirty="0">
                <a:solidFill>
                  <a:srgbClr val="141414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Department_Code</a:t>
            </a:r>
            <a:r>
              <a:rPr sz="2000" dirty="0">
                <a:solidFill>
                  <a:srgbClr val="141414"/>
                </a:solidFill>
                <a:latin typeface="Aptos"/>
              </a:rPr>
              <a:t>, HOD_Name)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STUDENT(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Student_ID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Student_Name</a:t>
            </a:r>
            <a:r>
              <a:rPr sz="2000" dirty="0">
                <a:solidFill>
                  <a:srgbClr val="141414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Roll_Number</a:t>
            </a:r>
            <a:r>
              <a:rPr sz="2000" dirty="0">
                <a:solidFill>
                  <a:srgbClr val="141414"/>
                </a:solidFill>
                <a:latin typeface="Aptos"/>
              </a:rPr>
              <a:t>, Email,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Department_ID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FK)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FACULTY(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Faculty_ID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Faculty_Name</a:t>
            </a:r>
            <a:r>
              <a:rPr sz="2000" dirty="0">
                <a:solidFill>
                  <a:srgbClr val="141414"/>
                </a:solidFill>
                <a:latin typeface="Aptos"/>
              </a:rPr>
              <a:t>, Designation, Email,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Department_ID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FK)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COURSE(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Course_ID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Course_Code</a:t>
            </a:r>
            <a:r>
              <a:rPr sz="2000" dirty="0">
                <a:solidFill>
                  <a:srgbClr val="141414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Course_Name</a:t>
            </a:r>
            <a:r>
              <a:rPr sz="2000" dirty="0">
                <a:solidFill>
                  <a:srgbClr val="141414"/>
                </a:solidFill>
                <a:latin typeface="Aptos"/>
              </a:rPr>
              <a:t>, Credits, Semester,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Department_ID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FK,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Faculty_ID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FK)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ENROLLMENT(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Enrollment_ID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Student_ID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FK,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Course_ID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FK,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Enrollment_Date</a:t>
            </a:r>
            <a:r>
              <a:rPr sz="2000" dirty="0">
                <a:solidFill>
                  <a:srgbClr val="141414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Academic_Year</a:t>
            </a:r>
            <a:r>
              <a:rPr sz="2000" dirty="0">
                <a:solidFill>
                  <a:srgbClr val="141414"/>
                </a:solidFill>
                <a:latin typeface="Aptos"/>
              </a:rPr>
              <a:t>, Semester)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RESULT(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Result_ID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Enrollment_ID</a:t>
            </a:r>
            <a:r>
              <a:rPr sz="2000" dirty="0">
                <a:solidFill>
                  <a:srgbClr val="141414"/>
                </a:solidFill>
                <a:latin typeface="Aptos"/>
              </a:rPr>
              <a:t> FK,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Internal_Marks</a:t>
            </a:r>
            <a:r>
              <a:rPr sz="2000" dirty="0">
                <a:solidFill>
                  <a:srgbClr val="141414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External_Marks</a:t>
            </a:r>
            <a:r>
              <a:rPr sz="2000" dirty="0">
                <a:solidFill>
                  <a:srgbClr val="141414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Total_Marks</a:t>
            </a:r>
            <a:r>
              <a:rPr sz="2000" dirty="0">
                <a:solidFill>
                  <a:srgbClr val="141414"/>
                </a:solidFill>
                <a:latin typeface="Aptos"/>
              </a:rPr>
              <a:t>, Grade,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Result_Status</a:t>
            </a:r>
            <a:r>
              <a:rPr sz="2000" dirty="0">
                <a:solidFill>
                  <a:srgbClr val="141414"/>
                </a:solidFill>
                <a:latin typeface="Apto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E2F94-6AD4-B724-E3FB-997227B0055D}"/>
              </a:ext>
            </a:extLst>
          </p:cNvPr>
          <p:cNvSpPr txBox="1"/>
          <p:nvPr/>
        </p:nvSpPr>
        <p:spPr>
          <a:xfrm>
            <a:off x="914400" y="1417320"/>
            <a:ext cx="7315200" cy="5716437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Primary Keys uniquely identify Department, Student, Faculty, Course, Enrollment, and Result records.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Foreign Keys connect Student/Faculty/Course to Department.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Course references both Department and Faculty.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Enrollment references Student and Course; Result references Enrollment.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NOT NULL protects required fields; UNIQUE protects roll numbers, emails, codes.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CHECK can restrict valid credits/marks; DEFAULT can provide suitable default values.</a:t>
            </a: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457200" y="1417320"/>
            <a:ext cx="9296400" cy="458792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</a:t>
            </a:r>
            <a:r>
              <a:rPr sz="2000" b="1" dirty="0">
                <a:solidFill>
                  <a:srgbClr val="141414"/>
                </a:solidFill>
                <a:latin typeface="Aptos"/>
              </a:rPr>
              <a:t>GitHub Repository: </a:t>
            </a:r>
            <a:r>
              <a:rPr sz="2000" dirty="0" err="1">
                <a:solidFill>
                  <a:srgbClr val="141414"/>
                </a:solidFill>
                <a:latin typeface="Aptos"/>
              </a:rPr>
              <a:t>github.com</a:t>
            </a:r>
            <a:r>
              <a:rPr sz="2000" dirty="0">
                <a:solidFill>
                  <a:srgbClr val="141414"/>
                </a:solidFill>
                <a:latin typeface="Aptos"/>
              </a:rPr>
              <a:t>/25b11ai573/DBMS-Review-.git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Manish Mandal – database design, SQL implementation, query preparation, testing, documentation.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 L Vaishnavi – SQL/query preparation, documentation, testing, report review.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T Meghana – ER/database documentation, query preparation, testing, report review.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Team work covered design, normalization, SQL, testing, validation, documentation, and review.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381000" y="1417320"/>
            <a:ext cx="9372600" cy="428014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Created six related tables: Department, Student, Faculty, Course, Enrollment, Result.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Applied PRIMARY KEY constraints to unique identifiers.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Applied FOREIGN KEY constraints to preserve referential integrity.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Used NOT NULL, UNIQUE, CHECK and DEFAULT constraints where appropriate.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Oracle SQL data types such as NUMBER, VARCHAR2 and DATE are used in the documented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09600" y="1417320"/>
            <a:ext cx="9144000" cy="489569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Department: Information Technology (IT) with a sample HOD.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Student: Student One, Roll No. IT01, linked to Department 1.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Faculty: Faculty One, Assistant Professor, linked to Department 1.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Course: Database Management Systems, 4 credits, Semester 5.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Enrollment: Student 101 enrolled in Course 301 for 2026–27.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Result: Internal 28 + External 62 = Total 90, Grade A+, Status PASS.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914400" y="1417320"/>
            <a:ext cx="8763000" cy="458792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DDL – CREATE TABLE statements define the database structure and constraints.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DML – INSERT statements add department, student, faculty, course, enrollment and result data.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DQL – SELECT statements retrieve and filter records.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Joins connect related tables for meaningful academic information.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The documented SQL implementation follows the relational schema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2001" y="1417320"/>
            <a:ext cx="8679572" cy="428014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The report contains a 30-query section covering selection, filtering, joins, aggregation, subqueries, updates, deletion and reporting.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Examples: display all departments, students, faculty and courses.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Filter students by department and retrieve student–department details using JOIN.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Retrieve student–course–enrollment information using multiple JOINs.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Queries support academic reporting and efficient retrieval.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2001" y="1417320"/>
            <a:ext cx="8679572" cy="428014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Primary and foreign keys prevent invalid references and duplicate identifiers.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UNIQUE constraints protect roll numbers, emails, course codes and department codes where applicable.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NOT NULL ensures required names and identifiers are present.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CHECK constraints can restrict credits and marks to valid ranges.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Normalization up to 3NF reduces redundancy and insertion, deletion and update anomalies.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1999" y="1417320"/>
            <a:ext cx="8679573" cy="499829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Documentation includes project abstract, introduction, system analysis and requirements.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Database design includes entities, relationships, ER diagram and relational schema.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Table design documents attributes, data types and constraints.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Normalization is documented from UNF through 1NF, 2NF and 3NF.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SQL implementation, 30 queries, outputs/screenshots, conclusion and future enhancements are included.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2000" y="1417320"/>
            <a:ext cx="8679573" cy="4793107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Demonstrate the implemented database and its six core tables.</a:t>
            </a: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Show sample records and key relationships.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Execute DDL, DML and DQL operations.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Demonstrate joins, filtering, aggregation and reporting queries.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Explain constraints, validation, normalization and project documentation.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Project repository and team contribution are included in the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777240" y="1417320"/>
            <a:ext cx="8671560" cy="4382738"/>
          </a:xfrm>
          <a:prstGeom prst="rect">
            <a:avLst/>
          </a:prstGeom>
          <a:noFill/>
        </p:spPr>
        <p:txBody>
          <a:bodyPr wrap="square" lIns="73152" tIns="36576" rIns="73152" bIns="36576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The application provides a structured relational database for core university academic information.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Primary/foreign keys and constraints support data integrity; normalization up to 3NF reduces redundancy and update anomalies.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SQL implementation supports insertion, modification, retrieval, aggregation and academic reporting.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Aptos"/>
              </a:rPr>
              <a:t>• Future enhancements: role-based access, attendance/leave, fee &amp; scholarship management, timetable/classroom allocation, analytics dashboards, backup/recovery, audit logging and stronger security.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677108"/>
          </a:xfrm>
        </p:spPr>
        <p:txBody>
          <a:bodyPr wrap="square" anchor="t"/>
          <a:lstStyle/>
          <a:p>
            <a:pPr algn="ctr"/>
            <a:r>
              <a:rPr sz="4400" b="1" dirty="0">
                <a:solidFill>
                  <a:srgbClr val="1F4E79"/>
                </a:solidFill>
                <a:latin typeface="AkayaTelivigala" pitchFamily="2" charset="77"/>
                <a:cs typeface="AkayaTelivigala" pitchFamily="2" charset="77"/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2664</TotalTime>
  <Words>1258</Words>
  <Application>Microsoft Macintosh PowerPoint</Application>
  <PresentationFormat>Custom</PresentationFormat>
  <Paragraphs>174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AkayaTelivigala</vt:lpstr>
      <vt:lpstr>Aptos</vt:lpstr>
      <vt:lpstr>Aptos Display</vt:lpstr>
      <vt:lpstr>Calibri</vt:lpstr>
      <vt:lpstr>Cambria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Academic Management System – Final Review</dc:title>
  <dc:subject>DBMS Cornerstone Project Final Review</dc:subject>
  <dc:creator>Manish Mandal, D L Vaishnavi, T Meghana</dc:creator>
  <cp:lastModifiedBy>25B11AI573</cp:lastModifiedBy>
  <cp:revision>51</cp:revision>
  <cp:lastPrinted>2025-10-14T18:21:49Z</cp:lastPrinted>
  <dcterms:created xsi:type="dcterms:W3CDTF">2025-10-10T08:28:06Z</dcterms:created>
  <dcterms:modified xsi:type="dcterms:W3CDTF">2026-09-26T07:54:03Z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